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B5EE5-037A-C747-B2A5-57C3D13155E3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66667-74DB-B749-9599-4811C342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1794" y="-466344"/>
            <a:ext cx="13103794" cy="7324344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62088" y="0"/>
            <a:ext cx="4626864" cy="6858000"/>
          </a:xfrm>
          <a:prstGeom prst="rect">
            <a:avLst/>
          </a:prstGeom>
          <a:solidFill>
            <a:srgbClr val="00663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64008" cy="685800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SERVICES  ·  OSCPA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Course Redesign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That Works.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3410712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courses. Fully redesigned.</a:t>
            </a:r>
            <a:endParaRPr lang="en-US" sz="15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Engaging, on-brand, and built for your members.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2920" y="4407408"/>
            <a:ext cx="5486400" cy="0"/>
          </a:xfrm>
          <a:prstGeom prst="line">
            <a:avLst/>
          </a:prstGeom>
          <a:noFill/>
          <a:ln w="12700">
            <a:solidFill>
              <a:srgbClr val="00A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617720"/>
            <a:ext cx="6583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 works with professional associations, credentialing bodies, and CE programs across North America — rebuilding courses that members actually want to take.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1371600"/>
            <a:ext cx="3913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chemeClr val="accent2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This is what we do.</a:t>
            </a:r>
            <a:endParaRPr lang="en-US" sz="1700" dirty="0">
              <a:solidFill>
                <a:schemeClr val="accent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0" y="1449324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built and redesigned professional courses for 1,300+ organizations in healthcare, finance, trade, and professional development.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09247" y="3028134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1,300+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0" y="351828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09247" y="3844136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40+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772400" y="498348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5349240"/>
            <a:ext cx="3913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20+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772400" y="589788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149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The OSCPA Opportunity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3566160" cy="9144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149047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58952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Courses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" y="2706624"/>
            <a:ext cx="3054096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2798064"/>
            <a:ext cx="3200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 complete redesign — from legacy format to modern, member-ready delivery.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1396" y="1325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11396" y="1325880"/>
            <a:ext cx="3566160" cy="9144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7428" y="149047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$70–100K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67428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Investment Range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67428" y="2706624"/>
            <a:ext cx="3054096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67428" y="2798064"/>
            <a:ext cx="3200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well-scoped engagement that delivers lasting value for OSCPA members and staff.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132588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19872" y="1325880"/>
            <a:ext cx="3566160" cy="9144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75904" y="149047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100%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375904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In-House Build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75904" y="2706624"/>
            <a:ext cx="3054096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75904" y="2798064"/>
            <a:ext cx="3200400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designed, developed, and delivered by D2L's own team. No outsourcing.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11183112" cy="1316736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5148072"/>
            <a:ext cx="10725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Course redesign is our bread and butter.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8680" y="5586984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done this for professional associations across healthcare, finance, and trade. OSCPA's 14-course project maps directly to what our Learning Services team does every day.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149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The Team Behind Your Courses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606040" cy="50292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1,300+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4414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2156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40+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387400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6482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20+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" y="530656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0" y="1325880"/>
            <a:ext cx="4037076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1325880"/>
            <a:ext cx="82296" cy="242316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39312" y="1527048"/>
            <a:ext cx="3689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Instructional Designers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39312" y="1984248"/>
            <a:ext cx="368960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content, assessments, and learner experience from scratch.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48956" y="1325880"/>
            <a:ext cx="4037076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48956" y="1325880"/>
            <a:ext cx="82296" cy="242316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04988" y="1527048"/>
            <a:ext cx="3689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Courseware Developers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904988" y="1984248"/>
            <a:ext cx="368960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HTML-based course content and assemble everything inside Brightspace.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83280" y="3931920"/>
            <a:ext cx="4037076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0" y="3931920"/>
            <a:ext cx="82296" cy="242316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39312" y="4133088"/>
            <a:ext cx="3689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Multimedia Developers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39312" y="4590288"/>
            <a:ext cx="368960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interactive, scenario-based, and gamified elements to every course.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48956" y="3931920"/>
            <a:ext cx="4037076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48956" y="3931920"/>
            <a:ext cx="82296" cy="242316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4988" y="4133088"/>
            <a:ext cx="36896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Graphic Designers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04988" y="4590288"/>
            <a:ext cx="3689604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your brand — OSCPA's look, colors, and voice — across all 14 courses.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149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Three Ways We Show Up for OSCPA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636264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5270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8952" y="2258568"/>
            <a:ext cx="3224784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2350008"/>
            <a:ext cx="3224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Learning Strategy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3200400"/>
            <a:ext cx="3224784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by understanding OSCPA's goals — member engagement, CE compliance, renewal rates. Then we build a learning strategy that ties all 14 courses together with a consistent vision.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6344" y="1325880"/>
            <a:ext cx="3636264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32376" y="15270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32376" y="2258568"/>
            <a:ext cx="3224784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32376" y="2350008"/>
            <a:ext cx="3224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Instructional Design &amp; Development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32376" y="3200400"/>
            <a:ext cx="3224784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in-house designers and developers take your existing content and rebuild it from the ground up — modern formats, learner-centered flow, and interactive elements that keep CPAs engaged.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9768" y="1325880"/>
            <a:ext cx="3636264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5800" y="15270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8305800" y="2258568"/>
            <a:ext cx="3224784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5800" y="2350008"/>
            <a:ext cx="3224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Brightspace Customization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05800" y="3200400"/>
            <a:ext cx="3224784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gets built and branded inside Brightspace. Your members will see OSCPA — not a generic LMS. We handle the HTML, design, and technical configuration end to end.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384048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How We Build Your 14 Courses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69264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five-phase process. Built for quality. Managed for you.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009851" y="2551176"/>
            <a:ext cx="8946490" cy="64008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2611" y="2194560"/>
            <a:ext cx="777240" cy="7772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2611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3136392"/>
            <a:ext cx="22366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93592"/>
            <a:ext cx="2145182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current courses, define member learning goals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69234" y="2194560"/>
            <a:ext cx="777240" cy="7772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69234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9542" y="3136392"/>
            <a:ext cx="22366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5262" y="3593592"/>
            <a:ext cx="2145182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redesign strategy, align with OSCPA outcomes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05856" y="2194560"/>
            <a:ext cx="777240" cy="7772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05856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76165" y="3136392"/>
            <a:ext cx="22366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Build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1885" y="3593592"/>
            <a:ext cx="2145182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learner-centered, branded course experiences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42478" y="2194560"/>
            <a:ext cx="777240" cy="7772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42478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12787" y="3136392"/>
            <a:ext cx="22366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58507" y="3593592"/>
            <a:ext cx="2145182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design, QA every module before delivery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79101" y="2194560"/>
            <a:ext cx="777240" cy="7772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79101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49410" y="3136392"/>
            <a:ext cx="223662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Deliver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95130" y="3593592"/>
            <a:ext cx="2145182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Brightspace, measure engagement and results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5532120"/>
            <a:ext cx="11183112" cy="822960"/>
          </a:xfrm>
          <a:prstGeom prst="rect">
            <a:avLst/>
          </a:prstGeom>
          <a:solidFill>
            <a:srgbClr val="003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562356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every phase: Continuous collaboration with OSCPA SMEs and stakeholders — managed by D2L project leadership from start to finish.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149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What Your Members Will Experience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321808" cy="5056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27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5E5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4910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Static. Dense. Hard to navigate.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14016"/>
            <a:ext cx="4910328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Text-heavy pages with minimal interaction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02229"/>
            <a:ext cx="4910328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consistent branding across courses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990442"/>
            <a:ext cx="4910328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Passive reading — no engagement checks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778654"/>
            <a:ext cx="4910328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Generic LMS feel — doesn't reflect OSCPA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566867"/>
            <a:ext cx="4910328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Difficult to update or maintain at scale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9048" y="1298448"/>
            <a:ext cx="5586984" cy="5056632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3368" y="1527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73368" y="1892808"/>
            <a:ext cx="5175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Interactive. Branded. Built for CPAs.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73368" y="2725826"/>
            <a:ext cx="146304" cy="146304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47688" y="2414016"/>
            <a:ext cx="4901184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learning with real CPA context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73368" y="3514039"/>
            <a:ext cx="146304" cy="146304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47688" y="3202229"/>
            <a:ext cx="4901184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OSCPA brand applied consistently, every course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73368" y="4302252"/>
            <a:ext cx="146304" cy="146304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47688" y="3990442"/>
            <a:ext cx="4901184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Gamification, badges, and knowledge checks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73368" y="5090465"/>
            <a:ext cx="146304" cy="146304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47688" y="4778654"/>
            <a:ext cx="4901184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and responsive across all devices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73368" y="5878678"/>
            <a:ext cx="146304" cy="146304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47688" y="5566867"/>
            <a:ext cx="4901184" cy="788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build — easy for your team to update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3840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What Clients Say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10002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“Much of our content is very technical, so it can be heavy going for learners. D2L made it much more interactive, more appealing and more professional-looking. It was a super-positive experience working with D2L's Learning Services team.”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Sophie Webber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0416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Training and Events, Grain and Feed Trade Association (Gafta)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4526280"/>
            <a:ext cx="11000232" cy="1828800"/>
          </a:xfrm>
          <a:prstGeom prst="rect">
            <a:avLst/>
          </a:prstGeom>
          <a:solidFill>
            <a:srgbClr val="004D25"/>
          </a:solidFill>
          <a:ln w="12700">
            <a:solidFill>
              <a:srgbClr val="00A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4709160"/>
            <a:ext cx="10543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Why this matters for OSCPA: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5093208"/>
            <a:ext cx="1054303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Gafta's challenge — technical content that felt heavy for learners — is the same one your CPAs face. The result was a more engaging, professional experience that the membership noticed immediately.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365760"/>
            <a:ext cx="10149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Your Point Person: The Learning Experience Architect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029200" cy="5056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270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A94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LXA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Learning Experience Architect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532888"/>
            <a:ext cx="4480560" cy="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457200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LXA owns the entire project.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combine instructional design expertise, learning science, and deep Brightspace knowledge to make sure every one of OSCPA's 14 courses comes out right.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contact. No handoffs. No confusion.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298448"/>
            <a:ext cx="5879592" cy="118186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06440" y="1298448"/>
            <a:ext cx="82296" cy="1181862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62472" y="1426464"/>
            <a:ext cx="5532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Persona Development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62472" y="1801368"/>
            <a:ext cx="5532120" cy="587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how your CPAs learn — what motivates them, what loses them.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590038"/>
            <a:ext cx="5879592" cy="118186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06440" y="2590038"/>
            <a:ext cx="82296" cy="1181862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62472" y="2718054"/>
            <a:ext cx="5532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Learner Journey Mapping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62472" y="3092958"/>
            <a:ext cx="5532120" cy="587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is designed with a clear path from start to completion.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3881628"/>
            <a:ext cx="5879592" cy="118186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06440" y="3881628"/>
            <a:ext cx="82296" cy="1181862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62472" y="4009644"/>
            <a:ext cx="5532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Change Management Support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62472" y="4384548"/>
            <a:ext cx="5532120" cy="587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your team adopt the new courses — not just receive them.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5173218"/>
            <a:ext cx="5879592" cy="118186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06440" y="5173218"/>
            <a:ext cx="82296" cy="1181862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62472" y="5301234"/>
            <a:ext cx="5532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C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Data-Driven Recommendations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62472" y="5676138"/>
            <a:ext cx="5532120" cy="587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best practices inform every design decision we make.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67928" y="0"/>
            <a:ext cx="3621024" cy="6858000"/>
          </a:xfrm>
          <a:prstGeom prst="rect">
            <a:avLst/>
          </a:prstGeom>
          <a:solidFill>
            <a:srgbClr val="0066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" cy="6858000"/>
          </a:xfrm>
          <a:prstGeom prst="rect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D2L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26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Ready to talk through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the 14-course scope?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7726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done this for associations in professional services, healthcare, and finance. OSCPA is exactly the type of organization we build for.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4114800"/>
            <a:ext cx="320040" cy="3200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4114800"/>
            <a:ext cx="7242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OSCPA's 14 existing courses together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773168"/>
            <a:ext cx="320040" cy="3200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4773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4773168"/>
            <a:ext cx="7242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redesign and confirm the approach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5431536"/>
            <a:ext cx="320040" cy="320040"/>
          </a:xfrm>
          <a:prstGeom prst="ellipse">
            <a:avLst/>
          </a:prstGeom>
          <a:solidFill>
            <a:srgbClr val="00A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5431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5431536"/>
            <a:ext cx="7242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timeline and project kickoff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1371600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Patrick Ducoffe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0" y="1847088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78240" y="2651760"/>
            <a:ext cx="2907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patrick.ducoffe@d2l.com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0" y="2999232"/>
            <a:ext cx="2907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d2l.com/learning-services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78240" y="3456432"/>
            <a:ext cx="2907792" cy="0"/>
          </a:xfrm>
          <a:prstGeom prst="line">
            <a:avLst/>
          </a:prstGeom>
          <a:noFill/>
          <a:ln w="12700">
            <a:solidFill>
              <a:srgbClr val="00A9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78240" y="361188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This is what we do.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4041648"/>
            <a:ext cx="2907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5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redesign for professional associations is our core strength.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656832"/>
            <a:ext cx="111831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Learning Services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 Ducoffe</cp:lastModifiedBy>
  <cp:revision>3</cp:revision>
  <dcterms:created xsi:type="dcterms:W3CDTF">2026-05-30T05:12:31Z</dcterms:created>
  <dcterms:modified xsi:type="dcterms:W3CDTF">2026-05-30T05:38:01Z</dcterms:modified>
</cp:coreProperties>
</file>